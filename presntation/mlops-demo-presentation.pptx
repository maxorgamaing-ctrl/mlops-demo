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73152" cy="50703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Team Session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in Production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Real-World Demos: Classical ML + RAG Agent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5943600" cy="384048"/>
          </a:xfrm>
          <a:prstGeom prst="rect">
            <a:avLst/>
          </a:prstGeom>
          <a:solidFill>
            <a:srgbClr val="10B981">
              <a:alpha val="2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83464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1: Customer Churn Prediction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337560"/>
            <a:ext cx="5943600" cy="384048"/>
          </a:xfrm>
          <a:prstGeom prst="rect">
            <a:avLst/>
          </a:prstGeom>
          <a:solidFill>
            <a:srgbClr val="8B5CF6">
              <a:alpha val="2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3375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2: Product Knowledge Assistant (RAG + Agent)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— What Is ML?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 Teaching Computers to Learn from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4023360" cy="3520440"/>
          </a:xfrm>
          <a:prstGeom prst="rect">
            <a:avLst/>
          </a:prstGeom>
          <a:solidFill>
            <a:srgbClr val="0F172A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71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Analogy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👶  A child learns that fire is hot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0756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…by touching it many times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682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…and updating their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53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 machine learning model learns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…by seeing thousands of examples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538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…and updating its internal numbers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1239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No one writes the rules.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416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The data teaches the rules.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1261872"/>
            <a:ext cx="411480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261872"/>
            <a:ext cx="64008" cy="10789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35331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8032" y="1609344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labeled examples.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correct answer pairs.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28032" y="192024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Email spam filter. Trained on 1M emails labeled spam/not-spam.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432304"/>
            <a:ext cx="411480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0EA5E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432304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52374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28032" y="2779776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hidden patterns.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needed.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8032" y="309067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Customer segments. Model groups buyers by behavior automatically.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602736"/>
            <a:ext cx="4114800" cy="1078992"/>
          </a:xfrm>
          <a:prstGeom prst="rect">
            <a:avLst/>
          </a:prstGeom>
          <a:solidFill>
            <a:srgbClr val="FFFFFF"/>
          </a:solidFill>
          <a:ln w="15240">
            <a:solidFill>
              <a:srgbClr val="8B5CF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602736"/>
            <a:ext cx="64008" cy="10789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3694176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28032" y="3950208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by trial and reward.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takes actions, gets feedback.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8032" y="426110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ChatGPT fine-tuning. Rewarded for helpful, harmless answers.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demos use Supervised Learning — the most common type in production.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— The Full Lifecycle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Model Goes from Idea to Production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011680" cy="1417320"/>
          </a:xfrm>
          <a:prstGeom prst="rect">
            <a:avLst/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34440"/>
            <a:ext cx="2011680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44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74520" y="1307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" y="161848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2057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to predict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it matters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40864" y="1943100"/>
            <a:ext cx="155448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96312" y="1234440"/>
            <a:ext cx="2011680" cy="1417320"/>
          </a:xfrm>
          <a:prstGeom prst="rect">
            <a:avLst/>
          </a:prstGeom>
          <a:solidFill>
            <a:srgbClr val="1E293B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96312" y="1234440"/>
            <a:ext cx="201168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1344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50792" y="1307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06040" y="161848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2057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raw data from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APIs, logs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17136" y="1943100"/>
            <a:ext cx="155448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72584" y="1234440"/>
            <a:ext cx="2011680" cy="1417320"/>
          </a:xfrm>
          <a:prstGeom prst="rect">
            <a:avLst/>
          </a:prstGeom>
          <a:solidFill>
            <a:srgbClr val="1E293B"/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72584" y="1234440"/>
            <a:ext cx="201168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4024" y="1344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27064" y="1307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82312" y="161848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82312" y="2057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label, split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693408" y="1943100"/>
            <a:ext cx="155448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48856" y="1234440"/>
            <a:ext cx="2011680" cy="1417320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48856" y="1234440"/>
            <a:ext cx="20116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0296" y="1344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03336" y="13075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58584" y="161848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58584" y="2057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raw 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model inputs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0040" y="941832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" y="3063240"/>
            <a:ext cx="2011680" cy="1417320"/>
          </a:xfrm>
          <a:prstGeom prst="rect">
            <a:avLst/>
          </a:prstGeom>
          <a:solidFill>
            <a:srgbClr val="1E293B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063240"/>
            <a:ext cx="201168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1729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874520" y="31363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🧪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29768" y="344728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29768" y="3886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learns patterns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training data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340864" y="3771900"/>
            <a:ext cx="155448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96312" y="3063240"/>
            <a:ext cx="2011680" cy="1417320"/>
          </a:xfrm>
          <a:prstGeom prst="rect">
            <a:avLst/>
          </a:prstGeom>
          <a:solidFill>
            <a:srgbClr val="1E293B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96312" y="3063240"/>
            <a:ext cx="201168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87752" y="31729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050792" y="31363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2606040" y="344728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606040" y="3886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accuracy, F1,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on held-out data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17136" y="3771900"/>
            <a:ext cx="155448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72584" y="3063240"/>
            <a:ext cx="2011680" cy="1417320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72584" y="3063240"/>
            <a:ext cx="20116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64024" y="31729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27064" y="31363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782312" y="344728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Production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782312" y="3886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as API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693408" y="3771900"/>
            <a:ext cx="155448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48856" y="3063240"/>
            <a:ext cx="2011680" cy="1417320"/>
          </a:xfrm>
          <a:prstGeom prst="rect">
            <a:avLst/>
          </a:prstGeom>
          <a:solidFill>
            <a:srgbClr val="1E293B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48856" y="3063240"/>
            <a:ext cx="20116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40296" y="31729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403336" y="313639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🔭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958584" y="344728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Retrain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958584" y="3886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drift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when needed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20040" y="2770632"/>
            <a:ext cx="1828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759952" y="1938528"/>
            <a:ext cx="0" cy="1124712"/>
          </a:xfrm>
          <a:prstGeom prst="line">
            <a:avLst/>
          </a:prstGeom>
          <a:noFill/>
          <a:ln w="15240">
            <a:solidFill>
              <a:srgbClr val="64748B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320040" y="3063240"/>
            <a:ext cx="843991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— Where MLOps Lives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MLOps vs. With MLOps: The Same Lifecycle, Totally Different Outcome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20624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MLOps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673352"/>
            <a:ext cx="4206240" cy="52120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73352"/>
            <a:ext cx="731520" cy="52120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1709928"/>
            <a:ext cx="6583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" y="1709928"/>
            <a:ext cx="32918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can't find the dataset I used 3 months ago."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4206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212848"/>
            <a:ext cx="731520" cy="52120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" y="2249424"/>
            <a:ext cx="6583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" y="2249424"/>
            <a:ext cx="32918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did the model change? Nothing looks different."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752344"/>
            <a:ext cx="4206240" cy="52120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752344"/>
            <a:ext cx="731520" cy="52120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" y="2788920"/>
            <a:ext cx="6583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" y="2788920"/>
            <a:ext cx="32918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worked on my laptop. It broke in prod."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91840"/>
            <a:ext cx="4206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291840"/>
            <a:ext cx="731520" cy="52120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" y="3328416"/>
            <a:ext cx="6583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" y="3328416"/>
            <a:ext cx="32918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model quietly degraded for 6 weeks. Nobody noticed."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831336"/>
            <a:ext cx="4206240" cy="52120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831336"/>
            <a:ext cx="731520" cy="52120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" y="3867912"/>
            <a:ext cx="6583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" y="3867912"/>
            <a:ext cx="32918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manually retrain once a quarter — a 2-week project."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370832"/>
            <a:ext cx="4206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4370832"/>
            <a:ext cx="731520" cy="52120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" y="4407408"/>
            <a:ext cx="6583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" y="4407408"/>
            <a:ext cx="32918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can't roll back. We'd have to retrain from scratch."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1234440"/>
            <a:ext cx="420624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2344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MLOps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09160" y="1673352"/>
            <a:ext cx="4206240" cy="521208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1673352"/>
            <a:ext cx="731520" cy="52120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45736" y="1709928"/>
            <a:ext cx="6583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13832" y="1709928"/>
            <a:ext cx="32918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tracks every dataset version. Any run is fully reproducible.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2212848"/>
            <a:ext cx="4206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2212848"/>
            <a:ext cx="731520" cy="52120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45736" y="2249424"/>
            <a:ext cx="6583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13832" y="2249424"/>
            <a:ext cx="32918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logs every parameter, metric, and artifact automatically.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2752344"/>
            <a:ext cx="4206240" cy="521208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2752344"/>
            <a:ext cx="731520" cy="52120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45736" y="2788920"/>
            <a:ext cx="6583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13832" y="2788920"/>
            <a:ext cx="32918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CI/CD: same container tested in staging runs in prod.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3291840"/>
            <a:ext cx="4206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09160" y="3291840"/>
            <a:ext cx="731520" cy="52120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45736" y="3328416"/>
            <a:ext cx="6583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13832" y="3328416"/>
            <a:ext cx="32918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alerts fire before users notice degradation.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09160" y="3831336"/>
            <a:ext cx="4206240" cy="521208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09160" y="3831336"/>
            <a:ext cx="731520" cy="52120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45736" y="3867912"/>
            <a:ext cx="6583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513832" y="3867912"/>
            <a:ext cx="32918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 retriggers automatically when drift is detected.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09160" y="4370832"/>
            <a:ext cx="420624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09160" y="4370832"/>
            <a:ext cx="731520" cy="521208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45736" y="4407408"/>
            <a:ext cx="6583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513832" y="4407408"/>
            <a:ext cx="32918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registry: one command to restore the previous version.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is the engineering discipline that turns the left column into the right column —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ML Projects Fail — And What MLOps Fixes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393192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ML projects never reach production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2025 AI Report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93192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5087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84632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avg time from model to production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AI Readiness Index 2025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393192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1546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incidents with mature MLOps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teams without MLOps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3931920" cy="141732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1546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846320" y="3794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deployment with full automation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4114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teams with CI/CD pipelines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= DevOps Extended for Machine Learning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743200" cy="33832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274320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version control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214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55117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9809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orchestration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4107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4297680"/>
            <a:ext cx="2743200" cy="320040"/>
          </a:xfrm>
          <a:prstGeom prst="rect">
            <a:avLst/>
          </a:prstGeom>
          <a:solidFill>
            <a:srgbClr val="334155">
              <a:alpha val="15000"/>
            </a:srgbClr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97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own this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1234440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234440"/>
            <a:ext cx="27432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234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16916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Data versioning (DVC)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1214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Experiment tracking (MLflow)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55117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Model registry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9809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Drift detection (Evidently)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4107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Continuous training triggers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4297680"/>
            <a:ext cx="2743200" cy="320040"/>
          </a:xfrm>
          <a:prstGeom prst="rect">
            <a:avLst/>
          </a:prstGeom>
          <a:solidFill>
            <a:srgbClr val="10B981">
              <a:alpha val="1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4297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 covers this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1234440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234440"/>
            <a:ext cx="274320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234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LLMOps / RAGOps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16916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Prompt versioning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21214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Vector DB management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255117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RAG evaluation (RAGAS)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29809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Trace observability (LangSmith)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34107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Knowledge base CI/CD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4297680"/>
            <a:ext cx="2743200" cy="320040"/>
          </a:xfrm>
          <a:prstGeom prst="rect">
            <a:avLst/>
          </a:prstGeom>
          <a:solidFill>
            <a:srgbClr val="8B5CF6">
              <a:alpha val="15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4297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 covers this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27248" y="2331720"/>
            <a:ext cx="164592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007608" y="2331720"/>
            <a:ext cx="164592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production MLOps use case — covers every pillar.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841248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Telco dataset · 7,000 rows · tabular data — no GPU needed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493008"/>
            <a:ext cx="841248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9300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Binary classification: will this customer leave in 30 days?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151376"/>
            <a:ext cx="841248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151376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Business value: 5% better retention = 25–95% more profit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 —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MLOps Pipeline: Churn Prediction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1234440" cy="1005840"/>
          </a:xfrm>
          <a:prstGeom prst="rect">
            <a:avLst/>
          </a:prstGeom>
          <a:solidFill>
            <a:srgbClr val="334155">
              <a:alpha val="15000"/>
            </a:srgbClr>
          </a:solidFill>
          <a:ln w="1905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517904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(CSV)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22128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DVC tracked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563624" y="196596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55648" y="1463040"/>
            <a:ext cx="1234440" cy="1005840"/>
          </a:xfrm>
          <a:prstGeom prst="rect">
            <a:avLst/>
          </a:prstGeom>
          <a:solidFill>
            <a:srgbClr val="0EA5E9">
              <a:alpha val="25000"/>
            </a:srgbClr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55648" y="1517904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Features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55648" y="22128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 Pipeline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999232" y="196596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91256" y="1463040"/>
            <a:ext cx="1234440" cy="1005840"/>
          </a:xfrm>
          <a:prstGeom prst="rect">
            <a:avLst/>
          </a:prstGeom>
          <a:solidFill>
            <a:srgbClr val="10B981">
              <a:alpha val="25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91256" y="1517904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91256" y="22128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34840" y="196596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463040"/>
            <a:ext cx="1234440" cy="1005840"/>
          </a:xfrm>
          <a:prstGeom prst="rect">
            <a:avLst/>
          </a:prstGeom>
          <a:solidFill>
            <a:srgbClr val="8B5CF6">
              <a:alpha val="25000"/>
            </a:srgbClr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26864" y="1517904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26864" y="22128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&gt; 0.82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870448" y="196596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62472" y="1463040"/>
            <a:ext cx="1234440" cy="1005840"/>
          </a:xfrm>
          <a:prstGeom prst="rect">
            <a:avLst/>
          </a:prstGeom>
          <a:solidFill>
            <a:srgbClr val="06B6D4">
              <a:alpha val="25000"/>
            </a:srgbClr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62472" y="1517904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62472" y="22128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Registry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06056" y="196596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1463040"/>
            <a:ext cx="1234440" cy="1005840"/>
          </a:xfrm>
          <a:prstGeom prst="rect">
            <a:avLst/>
          </a:prstGeom>
          <a:solidFill>
            <a:srgbClr val="0EA5E9">
              <a:alpha val="25000"/>
            </a:srgbClr>
          </a:solidFill>
          <a:ln w="19050">
            <a:solidFill>
              <a:srgbClr val="0EA5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98080" y="1517904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0" y="22128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FastAPI+Docker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2834640"/>
            <a:ext cx="85039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Pillars Activated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200400"/>
            <a:ext cx="20116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200400"/>
            <a:ext cx="2011680" cy="7315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33101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9768" y="3630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DVC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70048" y="3200400"/>
            <a:ext cx="20116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670048" y="3200400"/>
            <a:ext cx="20116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79776" y="33101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79776" y="3630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UI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0056" y="3200400"/>
            <a:ext cx="20116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020056" y="3200400"/>
            <a:ext cx="20116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9784" y="33101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29784" y="3630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040880" y="3200400"/>
            <a:ext cx="20116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040880" y="3200400"/>
            <a:ext cx="201168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50608" y="33101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150608" y="3630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+ Airflow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 — Key Demo Moment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CI/CD Quality Gate: Models are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4864" cy="3474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 — on every Pull Request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3931920" cy="301752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647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[pull_request]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00253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steps: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4780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✅ Run data validation tests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7157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✅ Train model (fast-mode)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29535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✅ Evaluate AUC vs baseline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319125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3429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AUC &lt; 0.82: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366674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❌ FAIL — block deployment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39044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41422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✅ Build Docker image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437997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✅ Smoke-test API /health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1280160"/>
            <a:ext cx="39319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280160"/>
            <a:ext cx="54864" cy="1188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34416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Inject a bad model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1664208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lower AUC to 0.78. Watch the CI pipeline block the deployment automatically. Zero manual review needed.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606040"/>
            <a:ext cx="39319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606040"/>
            <a:ext cx="54864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267004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Fix it, watch it deploy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2990088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hyperparameters back above 0.82. CI passes. CD promotes the model to the registry and deploys to Kubernetes.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3931920"/>
            <a:ext cx="39319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3931920"/>
            <a:ext cx="54864" cy="11887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3995928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Show the model registry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4315968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shows v1 (Production), v2 (Archived). Rollback is one CLI command: set v1 back to Production.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 — Production Monitoring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Detection: Models Degrade Silently Without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325880"/>
            <a:ext cx="0" cy="256032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13232" y="1344168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32588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399032"/>
            <a:ext cx="1005840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399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0.89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" y="2121408"/>
            <a:ext cx="402336" cy="40233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21031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2176272"/>
            <a:ext cx="1005840" cy="274320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21762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0.81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3232" y="2898648"/>
            <a:ext cx="402336" cy="40233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288036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34640" y="2953512"/>
            <a:ext cx="1005840" cy="274320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29535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" y="3675888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365760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4640" y="3730752"/>
            <a:ext cx="1005840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37307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0.91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1234440"/>
            <a:ext cx="44348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26280" y="1371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demo shows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26280" y="1810512"/>
            <a:ext cx="822960" cy="201168"/>
          </a:xfrm>
          <a:prstGeom prst="rect">
            <a:avLst/>
          </a:prstGeom>
          <a:solidFill>
            <a:srgbClr val="0EA5E9">
              <a:alpha val="25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18105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AI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26280" y="2029968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synthetic drifted data. Open HTML drift report — feature distributions side by side. Data scientist sees exactly what changed.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26280" y="2523744"/>
            <a:ext cx="822960" cy="201168"/>
          </a:xfrm>
          <a:prstGeom prst="rect">
            <a:avLst/>
          </a:prstGeom>
          <a:solidFill>
            <a:srgbClr val="0EA5E9">
              <a:alpha val="25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25237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26280" y="2743200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weekly retraining DAG. Drift detected → retrain job fires automatically → new model evaluated → promoted if better.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26280" y="3236976"/>
            <a:ext cx="822960" cy="201168"/>
          </a:xfrm>
          <a:prstGeom prst="rect">
            <a:avLst/>
          </a:prstGeom>
          <a:solidFill>
            <a:srgbClr val="0EA5E9">
              <a:alpha val="25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32369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Registry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26280" y="3456432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retraining, a new model version appears. Old version stays archived for audit. One-line rollback if new model is worse.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26280" y="3950208"/>
            <a:ext cx="822960" cy="201168"/>
          </a:xfrm>
          <a:prstGeom prst="rect">
            <a:avLst/>
          </a:prstGeom>
          <a:solidFill>
            <a:srgbClr val="0EA5E9">
              <a:alpha val="25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39502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26280" y="4169664"/>
            <a:ext cx="4069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Prometheus/Grafana alert fires when AUC drops below threshold. The same pager rotation the DevOps team uses for app incidents.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Knowledge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LLM Agent — the same MLOps principles, extended for language AI.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841248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E-commerce company · 50,000+ products · FAQs, specs, manuals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493008"/>
            <a:ext cx="841248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9300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Q: 'Does this router support WPA3?' → instant grounded answer from docs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151376"/>
            <a:ext cx="841248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151376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Shows: ingestion → vector DB → retrieval → LLM → evaluation → observability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 —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Pipeline: From Product Catalog to Grounded Answer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234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PATH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1371600" cy="822960"/>
          </a:xfrm>
          <a:prstGeom prst="rect">
            <a:avLst/>
          </a:prstGeom>
          <a:solidFill>
            <a:srgbClr val="334155">
              <a:alpha val="20000"/>
            </a:srgbClr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36192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Docs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(PDF/JSON)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91640" y="1920240"/>
            <a:ext cx="13716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508760"/>
            <a:ext cx="1371600" cy="822960"/>
          </a:xfrm>
          <a:prstGeom prst="rect">
            <a:avLst/>
          </a:prstGeom>
          <a:solidFill>
            <a:srgbClr val="0EA5E9">
              <a:alpha val="20000"/>
            </a:srgbClr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536192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(Semantic)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920240"/>
            <a:ext cx="13716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508760"/>
            <a:ext cx="1371600" cy="822960"/>
          </a:xfrm>
          <a:prstGeom prst="rect">
            <a:avLst/>
          </a:prstGeom>
          <a:solidFill>
            <a:srgbClr val="06B6D4">
              <a:alpha val="20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536192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(OpenAI)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13716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508760"/>
            <a:ext cx="1371600" cy="822960"/>
          </a:xfrm>
          <a:prstGeom prst="rect">
            <a:avLst/>
          </a:prstGeom>
          <a:solidFill>
            <a:srgbClr val="8B5CF6">
              <a:alpha val="20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536192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(Qdrant)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29400" y="2331720"/>
            <a:ext cx="0" cy="50292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0040" y="28529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/ INFERENCE PATH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3090672"/>
            <a:ext cx="1371600" cy="822960"/>
          </a:xfrm>
          <a:prstGeom prst="rect">
            <a:avLst/>
          </a:prstGeom>
          <a:solidFill>
            <a:srgbClr val="0F172A">
              <a:alpha val="20000"/>
            </a:srgbClr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118104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91640" y="3502152"/>
            <a:ext cx="137160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0" y="3090672"/>
            <a:ext cx="1371600" cy="822960"/>
          </a:xfrm>
          <a:prstGeom prst="rect">
            <a:avLst/>
          </a:prstGeom>
          <a:solidFill>
            <a:srgbClr val="0EA5E9">
              <a:alpha val="20000"/>
            </a:srgbClr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3118104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(Hybrid)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3502152"/>
            <a:ext cx="137160" cy="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37560" y="3090672"/>
            <a:ext cx="1371600" cy="822960"/>
          </a:xfrm>
          <a:prstGeom prst="rect">
            <a:avLst/>
          </a:prstGeom>
          <a:solidFill>
            <a:srgbClr val="06B6D4">
              <a:alpha val="20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118104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(Cross-enc.)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3502152"/>
            <a:ext cx="13716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3090672"/>
            <a:ext cx="1371600" cy="822960"/>
          </a:xfrm>
          <a:prstGeom prst="rect">
            <a:avLst/>
          </a:prstGeom>
          <a:solidFill>
            <a:srgbClr val="10B981">
              <a:alpha val="20000"/>
            </a:srgbClr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118104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(Claude/GPT)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3502152"/>
            <a:ext cx="13716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3090672"/>
            <a:ext cx="1371600" cy="822960"/>
          </a:xfrm>
          <a:prstGeom prst="rect">
            <a:avLst/>
          </a:prstGeom>
          <a:solidFill>
            <a:srgbClr val="8B5CF6">
              <a:alpha val="20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118104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206240"/>
            <a:ext cx="8503920" cy="594360"/>
          </a:xfrm>
          <a:prstGeom prst="rect">
            <a:avLst/>
          </a:prstGeom>
          <a:solidFill>
            <a:srgbClr val="0F172A">
              <a:alpha val="9000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206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 Observability Layer:  LangSmith traces every step  ·  RAGAS evaluates quality in CI  ·  DVC versions the knowledge base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 — Key Demo Moments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to Show the DevOps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502920" cy="1600200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87552" y="1417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Q&amp;A Demo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178308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'Does the TP-Link AX3000 support WPA3?' API returns the answer + source document name. Show the /answer endpoint in Swagger UI.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502920" cy="1600200"/>
          </a:xfrm>
          <a:prstGeom prst="rect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18288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🔭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76672" y="1417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76672" y="178308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LangSmith. Click the last request. See every step: query → retrieval (5 chunks) → reranker → LLM call → response. Latency and cost per step.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08960"/>
            <a:ext cx="502920" cy="160020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" y="3611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87552" y="3200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Quality Gate in CI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35661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prompt to be too vague. Watch faithfulness score drop to 0.62. GitHub Actions blocks the deployment. Same as AUC gate in Use Case 1.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108960"/>
            <a:ext cx="502920" cy="160020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54880" y="3611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76672" y="3200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Re-index on Catalog Update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76672" y="35661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 new product to product_catalog.json. GitHub Actions triggers the ingestion pipeline. New product is searchable in 90 seconds. Zero manual steps.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Two Use Cases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vs. LLMOps: Same Principles, Different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2286000" cy="411480"/>
          </a:xfrm>
          <a:prstGeom prst="rect">
            <a:avLst/>
          </a:prstGeom>
          <a:solidFill>
            <a:srgbClr val="33415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80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Pillar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06040" y="1280160"/>
            <a:ext cx="3017520" cy="411480"/>
          </a:xfrm>
          <a:prstGeom prst="rect">
            <a:avLst/>
          </a:prstGeom>
          <a:solidFill>
            <a:srgbClr val="10B98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1280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1: Churn Model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23560" y="1280160"/>
            <a:ext cx="3017520" cy="411480"/>
          </a:xfrm>
          <a:prstGeom prst="rect">
            <a:avLst/>
          </a:prstGeom>
          <a:solidFill>
            <a:srgbClr val="8B5C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1280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2: RAG Assistant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691640"/>
            <a:ext cx="228600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09928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06040" y="1691640"/>
            <a:ext cx="30175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70992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DVC (data &amp; code)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23560" y="1691640"/>
            <a:ext cx="30175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170992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DVC (knowledge base docs)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167128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85416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06040" y="2167128"/>
            <a:ext cx="3017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2185416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(runs, params, metrics)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23560" y="2167128"/>
            <a:ext cx="3017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2185416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(prompt versions + RAGAS scores)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642616"/>
            <a:ext cx="228600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660904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606040" y="2642616"/>
            <a:ext cx="30175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97480" y="2660904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if AUC &lt; 0.82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23560" y="2642616"/>
            <a:ext cx="30175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2660904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if faithfulness &lt; 0.85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118104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136392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Model/App Registry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606040" y="3118104"/>
            <a:ext cx="3017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3136392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Model Registry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(Staging → Production)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23560" y="3118104"/>
            <a:ext cx="3017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3136392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classic registry — prompt files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Git + LangSmith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593592"/>
            <a:ext cx="228600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611880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606040" y="3593592"/>
            <a:ext cx="30175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97480" y="3611880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Docker + K8s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23560" y="3593592"/>
            <a:ext cx="30175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3611880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Docker + K8s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4069080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087368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606040" y="4069080"/>
            <a:ext cx="3017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97480" y="408736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AI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drift, prediction drift)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623560" y="4069080"/>
            <a:ext cx="3017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15000" y="4087368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(traces, latency, cost, hallucinations)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4544568"/>
            <a:ext cx="228600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562856"/>
            <a:ext cx="2148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Retraining/Update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606040" y="4544568"/>
            <a:ext cx="30175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97480" y="4562856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(weekly, drift-triggered)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623560" y="4544568"/>
            <a:ext cx="3017520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15000" y="4562856"/>
            <a:ext cx="2880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(catalog update → re-index)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Models &amp; Agents.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shared platform once — it serves every ML model and RAG system you'll ever deploy.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274320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423160"/>
            <a:ext cx="2743200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560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DVC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versioning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423160"/>
            <a:ext cx="274320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42316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560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2971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+ tracking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423160"/>
            <a:ext cx="274320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423160"/>
            <a:ext cx="27432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560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2971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CI/CD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274320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749040"/>
            <a:ext cx="27432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86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K8s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4297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3749040"/>
            <a:ext cx="274320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3749040"/>
            <a:ext cx="27432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3886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429000" y="4297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orchestration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749040"/>
            <a:ext cx="274320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3749040"/>
            <a:ext cx="2743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886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Evidently + LangSmith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55080" y="4297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Demo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8503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61872"/>
            <a:ext cx="1234440" cy="777240"/>
          </a:xfrm>
          <a:prstGeom prst="rect">
            <a:avLst/>
          </a:prstGeom>
          <a:solidFill>
            <a:srgbClr val="334155">
              <a:alpha val="2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29844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33502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+ MLOps Fundamentals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86600" y="13533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221992"/>
            <a:ext cx="8503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221992"/>
            <a:ext cx="1234440" cy="896112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25856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5–20 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229514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1: Customer Churn Prediction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86600" y="23134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DevOps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91640" y="267919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UI: experiment comparison, model registry  ·  GitHub Actions: quality gate blocks bad model  ·  Live /predict endpoint + Swagger UI  ·  Evidently drift report + Airflow retraining DAG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3182112"/>
            <a:ext cx="85039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182112"/>
            <a:ext cx="1234440" cy="896112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21868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min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325526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2: Product Knowledge Assistant (RAG)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86600" y="32735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DevOps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91640" y="3639312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Q&amp;A — ask 3 questions, see source citations  ·  LangSmith: trace every step of the RAG chain  ·  RAGAS quality gate blocks bad prompt in CI  ·  Catalog update → auto re-index pipeline fires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4142232"/>
            <a:ext cx="85039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142232"/>
            <a:ext cx="1234440" cy="777240"/>
          </a:xfrm>
          <a:prstGeom prst="rect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4178808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 min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421538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Q&amp;A: How does this map to our current stack?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86600" y="42336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is DevOps for ML — you already know 70% of it.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30% that's new: model registries, drift detection, RAG evaluation.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platform once. Every future model is a one-week addition.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7863840" cy="365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03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Build Plan: mlops-use-cases-build-plan.md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83280" y="3703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MLflow Docs: mlflow.org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126480" y="37033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Evidently: evidentlyai.com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LangSmith: smith.langchain.com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83280" y="41148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RAGAS: docs.ragas.io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MLOps in Production: Two Real-World Demos</dc:title>
  <dc:subject>PptxGenJS Presentation</dc:subject>
  <dc:creator>PptxGenJS</dc:creator>
  <cp:lastModifiedBy>PptxGenJS</cp:lastModifiedBy>
  <cp:revision>1</cp:revision>
  <dcterms:created xsi:type="dcterms:W3CDTF">2026-05-02T09:59:31Z</dcterms:created>
  <dcterms:modified xsi:type="dcterms:W3CDTF">2026-05-02T09:59:31Z</dcterms:modified>
</cp:coreProperties>
</file>